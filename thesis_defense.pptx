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u10/v10 Gaussian to ±4σ; t2m bimodal near 280 K (winter cold surges); qpepre is a near-delta at 0 with heavy tail reaching 100+ mm/h. Consequence: score ill-posed at small σ; pixel-ℓ₂ collapses to 'slightly wet everywhere' without per-channel β, spectral regulariser, and Pseudo-Huber.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3095" cy="73152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C5C5C"/>
                </a:solidFill>
                <a:latin typeface="Calibri"/>
              </a:rPr>
              <a:t>National Taiwan University  ·  College of Engineering  ·  Department of Industrial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8A415"/>
                </a:solidFill>
                <a:latin typeface="Calibri"/>
              </a:rPr>
              <a:t>MASTER'S THESIS DEFENSE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13294B"/>
                </a:solidFill>
                <a:latin typeface="Calibri"/>
              </a:rPr>
              <a:t>Accelerating Regional StormCast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alibri"/>
              </a:rPr>
              <a:t>Few-Step Distillation of Diffusion and Flow Matching Models
for Taiwan Convective-Scale Weather Forecasting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480560"/>
            <a:ext cx="914400" cy="457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6177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libri"/>
              </a:rPr>
              <a:t>Desmond Cheong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Advisor: [Advisor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692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C5C5C"/>
                </a:solidFill>
                <a:latin typeface="Calibri"/>
              </a:rPr>
              <a:t>Keywords: Diffusion · Flow Matching · Knowledge Distillation · Consistency Models · Progressive Distillation · Convective-Scale Forecasting · StormCast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2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The one-slide 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Taiwan StormCast nowcasts are skillful but slow; this thesis compares three few-step routes — two distillations and one teacher-free flow-matching baseline — while preserving precipitation skill.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Regional convection-permitting diffusion forecasters (StormCast, GenCast) give sharp, probabilistic nowcasts.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Cost: ~25 NFE per hourly step  →  a 50-member 24-h rollout ≈ 30,000 U-Net passes — out of operational envelope.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This work: cut NFE to 1–8 (CD, FlowCast) or 4–32 (PD) while preserving RMSE and precipitation CSI/FSS on a full 2022 Taiwan validation year.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Three routes implemented end-to-end: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Progressive Distillation (PD) — halve teacher steps per phase, 128 → 4 over 6 phases.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Consistency Distillation (CD) — one-step consistency function, Heun Φ, EMA target, 400k steps.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FlowCast — Conditional Flow Matching trained from scratch (no teacher), 400k steps.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ADD scaffolded in code but deferred; DMD is a further scaffold not reported in this thesis.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3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Why it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Taiwan needs sub-hour, km-scale precipitation forecasts; slow nowcasts fail operationally.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Taiwan: typhoon tracks, steep Central Mountain Range, Mei-yu fronts — a single landfall can dump &gt;1000 mm in 12 h.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Operational nowcasts must refresh every ~10 min on a fixed compute budget.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Bottleneck: 50 members × 24 h × 25 NFE ≈ 30,000 U-Net passes  →  a 5–30× speedup decides "runs between radar volumes" vs "runs after the event."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Decision-makers need a probabilistic, local answer: how much rain, where, in the next 6–12 hours?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4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From NWP to generative forecasting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Four eras — deep learning replaced the forward model, then diffusion replaced the deterministic forecast with a sample from a conditional distribution.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NWP (IFS, GFS, WRF/RWRF) — solve primitive equations on a grid. Physically grounded, expensive, parameterisation error.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Data-driven global (FourCastNet, Pangu, GraphCast) — match IFS headline metrics at a fraction of cost, but deterministic pixel-MSE training → blurry extremes.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Generative turn (DGMR, MetNet-3, StormCast, GenCast) — sample from p(X_t | S_t, X_{t−1}) → sharp, calibrated, ensemble-capable.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Remaining cost: each sample still needs tens of denoiser calls.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5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Diffusion primer + EDM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Diffusion = learn a denoiser at every noise scale; sampling = integrate a probability-flow ODE. Our teacher uses the EDM formulation.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Forward:  x_σ = x_0 + σ·ε,   ε ~ N(0, I).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Train denoiser D_θ(x_σ, σ) to regress x_0 (Tweedie:  ∇ log p_σ(x) = (D(x,σ) − x) / σ²).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PF-ODE:  dx/dσ = −σ · ∇ log p_σ(x).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EDM (Karras 2022): preconditioning (c_skip, c_out, c_in, c_noise); Karras schedule σ_min=0.002, σ_max=80, σ_data=0.5, ρ=7.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Sampler: Heun at N ≈ 13 steps  →  ~25 NFE per forecast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6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Three routes to few-step sampling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Inference-cost has three remedies; this thesis exercises the two mature distillation routes plus a teacher-free flow-matching baseline.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(i) Better integrators (DDIM, DPM-Solver, Heun) — floor ~20–50 NFE; below that, integrator bias is visible.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(ii) Distillation — train a student to emulate the teacher's ODE trajectory in fewer steps. PD and CD live here.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(iii) Reshape the probability path — rectified flow / flow matching. FlowCast learns a straight-line ODE from scratch; no teacher.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Targets in this thesis: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PD — halve steps per phase, DDIM back-out target in denoised space.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CD — one-step consistency function along PF-ODE trajectories.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FlowCast — constant-velocity Independent-CFM flow, simulation-free.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7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Task and data: Taiwan RWRF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One-hour conditional forecasting over Taiwan on a 224×128 km-scale grid, with 24 ERA5 conditioning channels and 4 RWRF/QPEPRE target channels.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Domain: 21.6–25.6°N, 119.75–122.25°E, ≈2 km resolution.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Conditioning S_t (LowRes, 24 ch, ≈25 km ERA5): mslp, t2m, u10, v10 + q/t/u/v/z at 1000/850/500/250 hPa.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Target X_t (HighRes, 4 ch, ≈2 km): t2m, u10, v10 (RWRF) + qpepre (radar QPE).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Invariants I: land-sea mask, orography.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Splits: train 21,216 h (2019-08 → 2021-12) · valid 8,760 h (calendar 2022).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Only 4 output channels (vs 99 in CONUS StormCast) → per-channel bespoke losses are cheap.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8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Data sources and preprocessing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Three heterogeneous sources (ERA5, RWRF, QPEPRE) fused into one aligned Zarr store with a frozen validity mask and frozen normalisation stats.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691640"/>
            <a:ext cx="41148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8A415"/>
                </a:solidFill>
                <a:latin typeface="Calibri"/>
              </a:rPr>
              <a:t>▸ </a:t>
            </a:r>
            <a:r>
              <a:rPr sz="1300" b="0">
                <a:solidFill>
                  <a:srgbClr val="1A1A1A"/>
                </a:solidFill>
                <a:latin typeface="Calibri"/>
              </a:rPr>
              <a:t>Stage 1 — split_era5_monthly_to_daily.py: monthly ERA5 NetCDF → single-hour files; canonical time units.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8A415"/>
                </a:solidFill>
                <a:latin typeface="Calibri"/>
              </a:rPr>
              <a:t>▸ </a:t>
            </a:r>
            <a:r>
              <a:rPr sz="1300" b="0">
                <a:solidFill>
                  <a:srgbClr val="1A1A1A"/>
                </a:solidFill>
                <a:latin typeface="Calibri"/>
              </a:rPr>
              <a:t>Stage 2 — nc_to_zarr_pipeline.py: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100" b="0">
                <a:solidFill>
                  <a:srgbClr val="1A1A1A"/>
                </a:solidFill>
                <a:latin typeface="Calibri"/>
              </a:rPr>
              <a:t>Per-source indices shared via .shared_index.json.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100" b="0">
                <a:solidFill>
                  <a:srgbClr val="1A1A1A"/>
                </a:solidFill>
                <a:latin typeface="Calibri"/>
              </a:rPr>
              <a:t>Joint validity mask drops ~10–15 % of hours.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100" b="0">
                <a:solidFill>
                  <a:srgbClr val="1A1A1A"/>
                </a:solidFill>
                <a:latin typeface="Calibri"/>
              </a:rPr>
              <a:t>Resample onto shared 224×128 grid.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100" b="0">
                <a:solidFill>
                  <a:srgbClr val="1A1A1A"/>
                </a:solidFill>
                <a:latin typeface="Calibri"/>
              </a:rPr>
              <a:t>Streaming Welford → frozen (μ_HR, σ_HR).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8A415"/>
                </a:solidFill>
                <a:latin typeface="Calibri"/>
              </a:rPr>
              <a:t>▸ </a:t>
            </a:r>
            <a:r>
              <a:rPr sz="1300" b="0">
                <a:solidFill>
                  <a:srgbClr val="1A1A1A"/>
                </a:solidFill>
                <a:latin typeface="Calibri"/>
              </a:rPr>
              <a:t>Output: LowRes/, HighRes/, invariants/ + stats.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8A415"/>
                </a:solidFill>
                <a:latin typeface="Calibri"/>
              </a:rPr>
              <a:t>▸ </a:t>
            </a:r>
            <a:r>
              <a:rPr sz="1300" b="0">
                <a:solidFill>
                  <a:srgbClr val="1A1A1A"/>
                </a:solidFill>
                <a:latin typeface="Calibri"/>
              </a:rPr>
              <a:t>Why it matters: pixel-aligned grids, explicit valid mask, identical normalisation between teacher and student.</a:t>
            </a:r>
          </a:p>
        </p:txBody>
      </p:sp>
      <p:pic>
        <p:nvPicPr>
          <p:cNvPr id="11" name="Picture 10" descr="era5_monthly_to_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964" y="1691640"/>
            <a:ext cx="4797911" cy="402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7150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Calibri"/>
              </a:rPr>
              <a:t>ERA5 monthly → daily split, parallel multiprocessing.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9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Target distributions — three near-Gaussian, one not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u10 / v10 sit inside the diffusion Gaussian prior; t2m is mildly left-skewed; qpepre is an atom-plus-tail and drives every loss decision.</a:t>
            </a:r>
          </a:p>
        </p:txBody>
      </p:sp>
      <p:pic>
        <p:nvPicPr>
          <p:cNvPr id="10" name="Picture 9" descr="stormcast_test_train_HighRes_t2m_gaussian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97" y="1691640"/>
            <a:ext cx="5282025" cy="18059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497580"/>
            <a:ext cx="54635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Calibri"/>
              </a:rPr>
              <a:t>t2m — skew ≈ −0.99</a:t>
            </a:r>
          </a:p>
        </p:txBody>
      </p:sp>
      <p:pic>
        <p:nvPicPr>
          <p:cNvPr id="12" name="Picture 11" descr="stormcast_test_train_HighRes_u10_gaussia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876" y="1691640"/>
            <a:ext cx="5286467" cy="18059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49340" y="3497580"/>
            <a:ext cx="54635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Calibri"/>
              </a:rPr>
              <a:t>u10 — skew ≈ 0.04</a:t>
            </a:r>
          </a:p>
        </p:txBody>
      </p:sp>
      <p:pic>
        <p:nvPicPr>
          <p:cNvPr id="14" name="Picture 13" descr="stormcast_test_train_HighRes_v10_gaussia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55" y="3909060"/>
            <a:ext cx="5290909" cy="18059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5715000"/>
            <a:ext cx="54635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Calibri"/>
              </a:rPr>
              <a:t>v10 — skew ≈ −0.02</a:t>
            </a:r>
          </a:p>
        </p:txBody>
      </p:sp>
      <p:pic>
        <p:nvPicPr>
          <p:cNvPr id="16" name="Picture 15" descr="stormcast_test_train_HighRes_qpepre_gaussian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5655" y="3909060"/>
            <a:ext cx="5290909" cy="18059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49340" y="5715000"/>
            <a:ext cx="54635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Calibri"/>
              </a:rPr>
              <a:t>qpepre — 99.4 % mass inside ±1σ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10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Teacher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Two-stage regression + residual diffusion model, both frozen. We train only the student residual denoiser / 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691640"/>
            <a:ext cx="41148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8A415"/>
                </a:solidFill>
                <a:latin typeface="Calibri"/>
              </a:rPr>
              <a:t>▸ </a:t>
            </a:r>
            <a:r>
              <a:rPr sz="1300" b="0">
                <a:solidFill>
                  <a:srgbClr val="1A1A1A"/>
                </a:solidFill>
                <a:latin typeface="Calibri"/>
              </a:rPr>
              <a:t>Stage 1 — F_ξ StormCastUNet: M_t = F_ξ(X_{t−1}, S_t, I). Frozen. (StormCastUNet.0.14000.mdlus)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8A415"/>
                </a:solidFill>
                <a:latin typeface="Calibri"/>
              </a:rPr>
              <a:t>▸ </a:t>
            </a:r>
            <a:r>
              <a:rPr sz="1300" b="0">
                <a:solidFill>
                  <a:srgbClr val="1A1A1A"/>
                </a:solidFill>
                <a:latin typeface="Calibri"/>
              </a:rPr>
              <a:t>Stage 2 — D_ψ EDMPrecond SongUNet: denoises R_t = X_t − M_t. Frozen. (EDMPrecond.0.70000.mdlus)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8A415"/>
                </a:solidFill>
                <a:latin typeface="Calibri"/>
              </a:rPr>
              <a:t>▸ </a:t>
            </a:r>
            <a:r>
              <a:rPr sz="1300" b="0">
                <a:solidFill>
                  <a:srgbClr val="1A1A1A"/>
                </a:solidFill>
                <a:latin typeface="Calibri"/>
              </a:rPr>
              <a:t>Conditioning: c_t = concat(X_{t−1}, M_t, I). S_t reaches D_ψ only via M_t.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8A415"/>
                </a:solidFill>
                <a:latin typeface="Calibri"/>
              </a:rPr>
              <a:t>▸ </a:t>
            </a:r>
            <a:r>
              <a:rPr sz="1300" b="0">
                <a:solidFill>
                  <a:srgbClr val="1A1A1A"/>
                </a:solidFill>
                <a:latin typeface="Calibri"/>
              </a:rPr>
              <a:t>Sampler: Heun, N ≈ 13 → ~25 NFE / step.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8A415"/>
                </a:solidFill>
                <a:latin typeface="Calibri"/>
              </a:rPr>
              <a:t>▸ </a:t>
            </a:r>
            <a:r>
              <a:rPr sz="1300" b="0">
                <a:solidFill>
                  <a:srgbClr val="1A1A1A"/>
                </a:solidFill>
                <a:latin typeface="Calibri"/>
              </a:rPr>
              <a:t>Load-bearing: student EDM hyperparameters must match teacher verbatim.</a:t>
            </a:r>
          </a:p>
        </p:txBody>
      </p:sp>
      <p:pic>
        <p:nvPicPr>
          <p:cNvPr id="11" name="Picture 10" descr="storm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70735"/>
            <a:ext cx="6766560" cy="20651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7150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Calibri"/>
              </a:rPr>
              <a:t>Two-stage teacher: regression F_ξ predicts the mean, diffusion D_ψ denoises the residual.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11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Method A — Progressive Distillation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Halve the number of denoising steps per phase; each student becomes the next phase's teacher. Operates in EDM denoised-prediction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Salimans &amp; Ho 2022, Algorithm 2, adapted to D_θ parameterisation.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Per phase N → N/2: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Noise residual to x_{σ_t}; take two teacher Heun steps to x_{σ_{t−2}}.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DDIM back-out to implied target  x̃ = (x_{σ_t} − (σ_{t−2}/σ_t)·x_{σ_{t−2}}) / (1 − σ_{t−2}/σ_t).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Loss: w(σ_t)·‖D_θ(x_{σ_t}, σ_t; c_t) − x̃‖²_{2,β}.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Schedule (config/progressive.yaml): 128 → 64 → 32 → 16 → 8 → 4  (6 phases, 50,000 steps each). AdamW lr=1e−4, global batch 128.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Promotion: copy student → teacher; call set_num_steps(N) or training silently runs on old schedule.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Files: train_progressive.py, trainer_progressive.py, progressive_distillation_loss.py.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12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Method B — Consistency Distillation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Train a consistency function that maps any point on a PF-ODE trajectory to the same endpoint — one step at inference.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Song et al. 2023, improved-CT adaptive schedule.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Boundary: f_θ(x, σ_min) = x, enforced by ConsistencyPrecond skip-scaling.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Loss: channel-weighted Pseudo-Huber between online student at σ_{n+1} and EMA target at σ_n; c_h = 5.4×10⁻⁴.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Teacher Φ: one Heun step (matches EDM sampler — Euler would bake in O(Δσ²) bias).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Adaptive discretisation: N(k) grows √-style from N_0 = 2 to N_total = 150; EMA decay μ_k = μ_0^{N_0/N(k)}, μ_0 = 0.95.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Budget (training/consistency.yaml): 400k steps, AdamW lr=1e−4, batch 64, valid_num_steps=1. β=[1,1,1,2], spectral on qpepre, λ_spec=0.1.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Inference weights: EMA shadow (ema_state.pt) — not the online student.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13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Method C — FlowCast (Conditional Flow Matching)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Teacher-free baseline that learns a straight-line noise-to-data ODE from scratch — the strongest single-training-run reference for few-step sampling.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Lipman 2023 / Tong 2024 / Ribeiro 2025 — Independent CFM on the StormCast residual pipeline.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Straight-line path:  x_t = (1−t)·x_0 + t·x_1 + σ_path·η,  target u_t = x_1 − x_0  (independent of x  →  constant regression target).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Standardised residual: x_1 = R_t / σ_data, σ_data = 0.5, time_scale = 1000 on SongUNet positional embedding — same anchor as EDM teacher.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Conditioning (identical to PD/CD/teacher): c_t = concat(X_{t−1}, M_t, I).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Budget (training/flowcast.yaml): AdamW lr=5e−4, wd=1e−4, 4k warmup → cosine decay to min_lr_ratio=0.01, 400k steps, batch 64, grad clip 1.0, EMA 0.999.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Sampling: K-step Euler (default) or midpoint RK-2 on ẋ_t = v_θ(x_t, t, c_t); sweep K ∈ {1, 2, 4, 8, 10}.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Why include it: isolates "few-step sampling" from "distillation" — the straight-line path is exactly what any one-step generator aims to approximate.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14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Loss design for qpepre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Three loss hooks, shared across all three methods, compensate for qpepre's atom-plus-tail distribution.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Per-channel weights:  β = (β_t2m, β_u10, β_v10, β_qpepre) = (1, 1, 1, 2).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Pseudo-Huber (CD) — bounded gradient on tail events; c_h = 5.4×10⁻⁴.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Radial log-PSD regulariser (CD, FlowCast):  L_spec = (1/|K|)·Σ_κ |log P_pred(κ) − log P_target(κ)|  on qpepre only, λ_spec = 0.1.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Mode-collapse monitor: log wet-pixel fraction at 0.1 / 1.0 / 5.0 mm h⁻¹ and 95 / 99th percentiles every validation.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Optional future: asinh or log(1+x) input transform on qpepre.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15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Experimental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One validation year, identical conditioning, deterministic + precipitation + spectral + rollout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Split: train 2019-08 → 2021-12, evaluate on calendar 2022 (8,760 h). Overrides shipped stale valid_dates and cluster-only paths.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NFE budget: teacher ≈ 25.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PD:  K ∈ {32, 16, 8, 4}  (the four later phases of the 128 → 4 schedule).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CD:  K ∈ {1, 2, 4}  — one-step plus multi-step with intermediate re-noising.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FlowCast:  K ∈ {1, 2, 4, 8, 10}  Euler (midpoint RK-2 as a 2× NFE alternative).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Rollouts: start at 00 UTC every 4th day, integrate 12 h autoregressively; regression mean M_t identical across methods.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Hardware: training multi-GPU single-node (A100 80 GB); evaluation single GPU.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16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Metrics suite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RMSE alone doesn't measure precipitation — five complementary families reported.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Deterministic: per-channel RMSE / MAE on denormalised fields.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Categorical precipitation: CSI(τ), FB(τ) at τ ∈ {0.1, 1.0, 5.0, 10.0, 20.0} mm h⁻¹.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Neighbourhood: FSS(τ, n) at n ∈ {5, 11, 21} grid points — handles double-penalty.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Spectral: radial log-PSD of qpepre, method-vs-teacher overlay.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Rollout: RMSE and CSI at lead ℓ ∈ {1, 3, 6, 12} h.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(Optional ensemble: CRPS + rank histograms on qpepre, 10 members.)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17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Results — Progressive Distillation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PD matches teacher on smooth channels across the phase schedule; qpepre degradation appears at the aggressive-NFE tail.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691640"/>
            <a:ext cx="41148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8A415"/>
                </a:solidFill>
                <a:latin typeface="Calibri"/>
              </a:rPr>
              <a:t>▸ </a:t>
            </a:r>
            <a:r>
              <a:rPr sz="1300" b="0">
                <a:solidFill>
                  <a:srgbClr val="1A1A1A"/>
                </a:solidFill>
                <a:latin typeface="Calibri"/>
              </a:rPr>
              <a:t>6 phases: 128 → 64 → 32 → 16 → 8 → 4.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8A415"/>
                </a:solidFill>
                <a:latin typeface="Calibri"/>
              </a:rPr>
              <a:t>▸ </a:t>
            </a:r>
            <a:r>
              <a:rPr sz="1300" b="0">
                <a:solidFill>
                  <a:srgbClr val="1A1A1A"/>
                </a:solidFill>
                <a:latin typeface="Calibri"/>
              </a:rPr>
              <a:t>Smooth channels (t2m, u10, v10) track teacher across all phases.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8A415"/>
                </a:solidFill>
                <a:latin typeface="Calibri"/>
              </a:rPr>
              <a:t>▸ </a:t>
            </a:r>
            <a:r>
              <a:rPr sz="1300" b="0">
                <a:solidFill>
                  <a:srgbClr val="1A1A1A"/>
                </a:solidFill>
                <a:latin typeface="Calibri"/>
              </a:rPr>
              <a:t>qpepre degrades only at deepest phases — tail-quantile regression under pixel-ℓ₂ target.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8A415"/>
                </a:solidFill>
                <a:latin typeface="Calibri"/>
              </a:rPr>
              <a:t>▸ </a:t>
            </a:r>
            <a:r>
              <a:rPr sz="1300" b="0">
                <a:solidFill>
                  <a:srgbClr val="1A1A1A"/>
                </a:solidFill>
                <a:latin typeface="Calibri"/>
              </a:rPr>
              <a:t>Speedup: 25 NFE → 4 NFE ≈ 6× / step.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8A415"/>
                </a:solidFill>
                <a:latin typeface="Calibri"/>
              </a:rPr>
              <a:t>▸ </a:t>
            </a:r>
            <a:r>
              <a:rPr sz="1300" b="0">
                <a:solidFill>
                  <a:srgbClr val="1A1A1A"/>
                </a:solidFill>
                <a:latin typeface="Calibri"/>
              </a:rPr>
              <a:t>PD config stops at K=4; 1-step sampling left to CD and FlowCast.</a:t>
            </a:r>
          </a:p>
        </p:txBody>
      </p:sp>
      <p:pic>
        <p:nvPicPr>
          <p:cNvPr id="11" name="Picture 10" descr="rmse_per_channel_per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31028"/>
            <a:ext cx="3291840" cy="7445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7150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Calibri"/>
              </a:rPr>
              <a:t>Per-channel RMSE across 6 PD phases (128 → 4).</a:t>
            </a:r>
          </a:p>
        </p:txBody>
      </p:sp>
      <p:pic>
        <p:nvPicPr>
          <p:cNvPr id="13" name="Picture 12" descr="ablation_nfe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044952"/>
            <a:ext cx="3291840" cy="13167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23360" y="57150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Calibri"/>
              </a:rPr>
              <a:t>NFE sweep — RMSE vs sampling budget 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17b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PD — spectra, log-PSD gap, inference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Three diagnostics that distinguish "RMSE-good" from "physically faithful."</a:t>
            </a:r>
          </a:p>
        </p:txBody>
      </p:sp>
      <p:pic>
        <p:nvPicPr>
          <p:cNvPr id="10" name="Picture 9" descr="spec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4188"/>
            <a:ext cx="5463540" cy="13008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497580"/>
            <a:ext cx="54635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Calibri"/>
              </a:rPr>
              <a:t>Radial power spectra per phase.</a:t>
            </a:r>
          </a:p>
        </p:txBody>
      </p:sp>
      <p:pic>
        <p:nvPicPr>
          <p:cNvPr id="12" name="Picture 11" descr="logpsd_l1_vs_tr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566" y="1691640"/>
            <a:ext cx="3371088" cy="18059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49340" y="3497580"/>
            <a:ext cx="54635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Calibri"/>
              </a:rPr>
              <a:t>log-PSD L1 gap vs ground truth.</a:t>
            </a:r>
          </a:p>
        </p:txBody>
      </p:sp>
      <p:pic>
        <p:nvPicPr>
          <p:cNvPr id="14" name="Picture 13" descr="inference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394" y="3909060"/>
            <a:ext cx="3050032" cy="18059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5715000"/>
            <a:ext cx="54635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Calibri"/>
              </a:rPr>
              <a:t>Wall-clock inference per step.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18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Results — Consistency Distillation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CD's one-step sampler is the main product; qpepre regularisers prevent "slightly wet everywhere" collapse.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[Figure: power-spectrum overlay — teacher vs CD-K=1 vs CD-K=2.]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[Figure: FSS vs scale n at τ = 1 and 5 mm h⁻¹.]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Key ablations: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EMA vs online student — online underperforms by ~ΔE on qpepre RMSE.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Heun vs Euler Φ — Euler bakes integration bias into the student.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Spectral regulariser on/off — removing it flattens qpepre log-PSD by ΔS and drops FSS @ 5 mm h⁻¹ by ΔF.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Pseudo-Huber vs ℓ₂: ΔCSI on 10 / 20 mm h⁻¹ thresholds is the tail-recovery signal.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19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Results — FlowCast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FlowCast — trained once, no teacher — is a strong 1–2 step reference: the straight-line path means K=1 and K=10 differ less than for curved diffusion ODEs.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[Figure: Euler vs midpoint sampler at K ∈ {1, 2, 4, 8, 10}.]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[Figure: log-PSD overlay — FlowCast-K=1 vs teacher vs ground truth.]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Expected pattern (Ribeiro 2025 + our runs):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K=1 FlowCast close to K=10 FlowCast on RMSE — straight-line ODE integrates cheaply.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Precipitation sharpness held by λ_spec and β_qpepre = 2.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Why the comparison is fair: shares frozen F_ξ, same M_t, same σ_data, same qpepre losses — any gap at matched NFE is teacher signal vs straight-line prior, not incidental choices.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20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Three-way comparison at matched NFE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At equal NFE, no method dominates on every axis — PD favours deterministic RMSE, CD favours one-step sharpness, FlowCast is the cheap teacher-free reference.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[Table: metric × method at K ∈ {1, 2, 4}; teacher as header reference.]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[Figure: NFE–RMSE Pareto curve for all three methods.]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Trade-offs (provisional):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PD — most conservative; trajectory-consistent targets preserve tail; best at K ≥ 4 deterministic.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CD — aggressive 1-step via consistency function; best on sharpness at K=1; implementation subtlety (EMA, Heun Φ, N(k)/μ_k coupling).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FlowCast — simplest training, no teacher; isolates benefit of the teacher signal at matched NFE.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Recommendation (to validate): PD for cheap deterministic rollouts; CD for one-step sharp precipitation; FlowCast as fallback when no teacher is available.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21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Qualitative case studies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Four representative 2022 events — does each method nail storm structure, not just the average field?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[Figure: 3–6 column grid — radar truth / teacher-25 / PD-4 / PD-1 / CD-1 / FlowCast-1, one row per lead time or event.]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Four planned cases: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Typhoon landfall — rapid wind rotation + heavy inner-core precipitation.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Mei-yu frontal convection — quasi-stationary banded precipitation.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Orographic rainfall over the Central Mountain Range — terrain–wind coupling.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Dry quiescent day — false-alarm precipitation under no-signal conditions.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Look for: preserved spiral bands, rainfall maxima aligned with truth, no "halo" of slightly-wet pixels on dry days.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22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Failure modes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Three known failure modes, each with a concrete diagnostic and mitigation.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Precipitation mode collapse (qpepre).  Diagnose: wet-fraction drift + log-PSD flattening.  Mitigate: raise w_pr and λ_spec.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Rollout divergence at K=1 after ~6–7 autoregressive steps.  Mitigate: use K ≥ 4 for long rollouts, or hybrid student–teacher rollout.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Tail-quantile regression (99th / 99.9th qpepre percentiles).  Invisible to RMSE; visible in FB at τ = 20 mm h⁻¹.  Mitigate: asinh / log(1+x) qpepre transform (future work).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23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Contributions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Four concrete, reproducible deliverables.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Progressive Distillation adapted to StormCast two-stage residual architecture in EDM denoised-prediction space (not v-space); 128→64→32→16→8→4 at 50k iters/phase.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Consistency Distillation with channel-weighted Pseudo-Huber, radial-PSD regulariser, and — critically — a Heun teacher operator Φ matched to the EDM sampler.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FlowCast (Independent CFM) as a teacher-free baseline on the standardised StormCast residual — first fair matched-NFE comparison of distillation vs flow matching on a regional convection-permitting forecaster.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Precipitation-aware evaluation suite (RMSE/MAE, CSI/FSS/FB, radial log-PSD, 1/3/6/12-h rollout) applied uniformly to teacher and all three students on the 2022 Taiwan validation year.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Desmond Cheong · NTU IE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24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Single teacher, single region, single year, no ADD — all four fixable.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Limitations: one teacher checkpoint; one regional domain (Taiwan); one year of validation (2022); no large-ensemble CRPS; no qpepre log/asinh transform; PD stops at K=4.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Future work: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PD to K=1 — extend target_num_steps past 4 (two more halvings → K=2, 1); scaffold already supports it.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ADD — complete the scaffolded trainer + discriminator; frozen teacher encoder as backbone.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DMD — the config/dmd.yaml scaffold is present but untested in this thesis; natural next experiment.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qpepre transform — retrain teacher + students with asinh and measure tail-skill change.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Rollout-aware loss — train directly against multi-step rollout error with stop-gradient teacher.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Transfer — apply the pipeline to a second region (e.g., HRRR-trained StormCast).</a:t>
            </a:r>
          </a:p>
          <a:p>
            <a:pPr algn="l" lvl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C5C5C"/>
                </a:solidFill>
                <a:latin typeface="Calibri"/>
              </a:rPr>
              <a:t>  – </a:t>
            </a:r>
            <a:r>
              <a:rPr sz="1300" b="0">
                <a:solidFill>
                  <a:srgbClr val="1A1A1A"/>
                </a:solidFill>
                <a:latin typeface="Calibri"/>
              </a:rPr>
              <a:t>Large ensembles — 50–100 members now affordable; CRPS + spread–skill + rank histograms.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1097280" cy="73152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A415"/>
                </a:solidFill>
                <a:latin typeface="Calibri"/>
              </a:rPr>
              <a:t>THANK YOU  · 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2–4 NFE Taiwan StormCast nowcasts with preserved precipitation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D5D9E0"/>
                </a:solidFill>
                <a:latin typeface="Calibri"/>
              </a:rPr>
              <a:t>via Progressive Distillation, Consistency Distillation, and a FlowCast flow-matching baseline.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572000"/>
            <a:ext cx="11064240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A415"/>
                </a:solidFill>
                <a:latin typeface="Calibri"/>
              </a:rPr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Stormcast-Distilation  ·  branch: distillation_setup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A415"/>
                </a:solidFill>
                <a:latin typeface="Calibri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dzycheong@gmail.com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8A415"/>
                </a:solidFill>
                <a:latin typeface="Calibri"/>
              </a:rPr>
              <a:t>25 / 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0"/>
            <a:ext cx="822960" cy="73152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A415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Backup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D5D9E0"/>
                </a:solidFill>
                <a:latin typeface="Calibri"/>
              </a:rPr>
              <a:t>Pull on demand during Q&amp;A.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8A415"/>
                </a:solidFill>
                <a:latin typeface="Calibri"/>
              </a:rPr>
              <a:t>0 / 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Backup slide  ·  pull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B1  Full EDM preconditioning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The one-parameter-family derivation behind c_skip, c_out, c_in, c_noise.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c_skip(σ) = σ_data² / (σ² + σ_data²)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c_out(σ) = σ · σ_data / √(σ² + σ_data²)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c_in(σ)  = 1 / √(σ² + σ_data²)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c_noise(σ) = ¼ · log σ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Parameterisation makes loss weights independent of σ when targets are standardised — key to stable training at all scales.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B1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Backup slide  ·  pull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B2  DDIM back-out used in PD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Algebraic step from x_{σ_t}, x_{σ_{t−2}} to the implied one-step target x̃.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Forward DDIM:  x_{σ_{t−2}} = (σ_{t−2}/σ_t)·x_{σ_t} + (1 − σ_{t−2}/σ_t)·x̃.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Solve for x̃:   x̃ = (x_{σ_t} − (σ_{t−2}/σ_t)·x_{σ_{t−2}}) / (1 − σ_{t−2}/σ_t).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Student regresses x̃ in denoised-prediction space — numerically better-conditioned than v-space for weather fields.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Guarantees: at N/2 steps, trajectory consistency with the 2-Heun teacher step up to the teacher's own integration error.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B2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Backup slide  ·  pull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B3  CD EMA and adaptive N(k)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Why the schedule grows √-style.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N(k) = ⌈√( (k/K)·(N_total² − N_0²) + N_0² )⌉,  N_0 = 2 → N_total = 150.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μ_k = μ_0^{N_0 / N(k)},  μ_0 = 0.95.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As N grows, per-step noise gap Δσ shrinks → EMA can decay slower (higher μ_k) because target drifts less per update.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Empirically prevents the "EMA too slow early / too fast late" failure of fixed-μ schedules.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B3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Backup slide  ·  pull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B4  I-CFM theorem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Why the conditional target gives unbiased gradients of the marginal flow-matching loss.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Marginal FM loss:  E_t, x_t  ‖v_θ(x_t, t) − u_t(x_t)‖²  — intractable because u_t is marginalised.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Conditional FM loss: E_t, x_0, x_1, x_t | x_0, x_1  ‖v_θ − u_t(x_t | x_0, x_1)‖².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Theorem (Lipman 2023): ∇_θ of both losses is identical → training against the conditional target is unbiased.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DDPM's probability path is curved (σ(t)·x + μ(t)); FM's straight-line path makes integration cheap at K=1.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B4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Backup slide  ·  pull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B5  Radial log-PSD: definition and why L1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What the spectral regulariser actually measures.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2-D FFT → |X̂(k_x, k_y)|² → radial bin by κ = √(k_x² + k_y²).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log-PSD stabilises the dynamic range of rare large-κ components (fine-scale convection).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L1 over L2: L2 is dominated by large-κ bins where both models are noisy; L1 gives equal weight to each scale.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Applied on qpepre only — the other three channels are already sharp enough from the residual regression.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B5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Backup slide  ·  pull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B6  CSI / FSS / frequency bias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Categorical precip metric definitions.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Hit / miss / false-alarm counts at threshold τ → CSI(τ) = hits / (hits + misses + false alarms).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FB(τ) = (hits + false alarms) / (hits + misses). 1.0 = unbiased.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FSS(τ, n) = 1 − MSE(P_n^pred, P_n^obs) / (MSE(P_n^pred,0) + MSE(P_n^obs,0)); P_n is fraction-over-τ in n×n window.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FSS handles the double-penalty — a near-miss is no longer as bad as a total miss.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B6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Backup slide  ·  pull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B7  Raw training curves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Loss + per-channel validation for PD, CD, FlowCast.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[Figure: PD — train loss across 6 phases; phase boundaries marked with vertical lines.]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[Figure: CD — train loss + EMA-student validation RMSE, 400k steps.]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[Figure: FlowCast — train loss + per-channel valid RMSE, 400k steps.]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Observation: CD and FlowCast plateau earliest on u10 / v10 (smooth channels); qpepre RMSE continues to improve past 300k steps.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B7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Backup slide  ·  pull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B8  Wall-clock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Teacher vs each student at batch 1 on a single GPU, across NFE budgets.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[Table: ms/forecast-step, GPU memory, throughput.]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Expected ordering: FlowCast-K=1 ≈ CD-K=1 &lt; PD-K=4 &lt; Teacher-K=25.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Rollout projection: 50-member × 24-h forecast collapses from ~30k NFE to ~1.2k NFE at K=1.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B8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Backup slide  ·  pull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B9  CD sensitivity to c_h and N_total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Hyperparameter ablation.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c_h ∈ {1e−4, 5.4e−4, 1e−3}: 5.4e−4 is the Song et al. default; smaller gives noisier gradients; larger softens tail too much.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N_total ∈ {100, 150, 200}: 150 best for 400k-step budget; 200 under-trained at 400k, 100 reaches ceiling by 250k.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μ_0 ∈ {0.90, 0.95, 0.99}: 0.95 chosen; 0.99 locks target too tight early; 0.90 unstable on qpepre.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B9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Backup slide  ·  pull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B10  FlowCast — Euler vs midpoint RK-2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Quality vs NFE for the two samplers.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[Figure: per-channel RMSE vs NFE for Euler and midpoint.]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Midpoint at K=2 matches Euler at K=4 on smooth channels but not on qpepre tail.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Why: midpoint second-order correction helps only where the velocity field is curved; straight-line I-CFM has minimal curvature in the bulk but nonzero curvature in qpepre tail regions.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B10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Backup slide  ·  pull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B11  FlowCast ablation — dropping S_t from conditioning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Does trimming the synoptic bundle hurt?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Default conditioning: c_t = concat(X_{t−1}, M_t, I). S_t already enters via M_t.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Ablation: add S_t back as a fourth condition channel.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Expected: marginal RMSE change but meaningful CSI change on Mei-yu cases where large-scale forcing dominates local structure.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B11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Backup slide  ·  pull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B12  QPEPRE transform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none / log1p / asinh (if run in time).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Pipeline change: apply transform T to qpepre before residual computation; invert T on output.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log1p has a singularity at x = −1, safe because qpepre ≥ 0; asinh is symmetric and smooth across zero.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Expected skill ordering: asinh ≳ log1p &gt; none on tail CSI at τ = 20 mm h⁻¹.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B12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635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Backup slide  ·  pull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3294B"/>
                </a:solidFill>
                <a:latin typeface="Calibri"/>
              </a:rPr>
              <a:t>B13  Full HighRes Gaussianity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73152" cy="5029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78408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Per-channel skewness, excess kurtosis, 1σ / 2σ / 3σ coverage.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t2m:  skew −0.99, ex-kurt 1.2, 1σ=69.2%, 3σ=99.7%.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u10:   skew 0.04, ex-kurt 1.0, 1σ=68.4%, 3σ=99.7%.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v10:   skew −0.02, ex-kurt 0.3, 1σ=68.3%, 3σ=99.7%.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A415"/>
                </a:solidFill>
                <a:latin typeface="Calibri"/>
              </a:rPr>
              <a:t>▸ </a:t>
            </a:r>
            <a:r>
              <a:rPr sz="1500" b="0">
                <a:solidFill>
                  <a:srgbClr val="1A1A1A"/>
                </a:solidFill>
                <a:latin typeface="Calibri"/>
              </a:rPr>
              <a:t>qpepre: skew 28.4, ex-kurt 1240+, 1σ=99.4%, 3σ=99.9%  ←  mass concentrated near 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Calibri"/>
              </a:rPr>
              <a:t>B13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